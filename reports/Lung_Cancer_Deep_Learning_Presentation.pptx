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Lung Cancer Risk Prediction with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with Dritsas &amp; Trigka (2022) — Same dataset, neural networks vs classical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Same task as the 2022 paper: predict lung cancer risk (YES/NO) from survey data.</a:t>
            </a:r>
          </a:p>
          <a:p>
            <a:pPr/>
            <a:r>
              <a:t>Same dataset: lung cancer survey (habits, symptoms, ~309 samples, 15 features).</a:t>
            </a:r>
          </a:p>
          <a:p>
            <a:pPr/>
            <a:r>
              <a:t>Their approach: classical ML (Rotation Forest) — 97.1% accuracy, 99.3% AUC.</a:t>
            </a:r>
          </a:p>
          <a:p>
            <a:pPr/>
            <a:r>
              <a:t>Our approach: deep learning (7 MLP architectures) — compare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Source: survey lung cancer.csv (data/raw/).</a:t>
            </a:r>
          </a:p>
          <a:p>
            <a:pPr/>
            <a:r>
              <a:t>Features: age, gender, smoking, yellow fingers, anxiety, peer pressure, chronic disease,</a:t>
            </a:r>
          </a:p>
          <a:p>
            <a:pPr/>
            <a:r>
              <a:t>fatigue, allergy, wheezing, alcohol, coughing, shortness of breath, swallowing, chest pain.</a:t>
            </a:r>
          </a:p>
          <a:p>
            <a:pPr/>
            <a:r>
              <a:t>Target: LUNG_CANCER (YES/NO).</a:t>
            </a:r>
          </a:p>
          <a:p>
            <a:pPr/>
            <a:r>
              <a:t>Preprocessing: standard scaling, stratified splits, class weights for imbalance.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— steps we followed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Load data (survey lung cancer.csv) and encode labels (YES/NO → 1/0).</a:t>
            </a:r>
          </a:p>
          <a:p>
            <a:pPr/>
            <a:r>
              <a:t>2. Preprocess: StandardScaler (zero mean, unit variance), stratified train/test split.</a:t>
            </a:r>
          </a:p>
          <a:p>
            <a:pPr/>
            <a:r>
              <a:t>3. Train 7 architectures with the same hyperparameters (lr, batch, epochs, early stopping).</a:t>
            </a:r>
          </a:p>
          <a:p>
            <a:pPr/>
            <a:r>
              <a:t>4. Evaluate: single 80/20 split, 5-fold CV, 10-fold CV; report accuracy, F1, ROC-AUC.</a:t>
            </a:r>
          </a:p>
          <a:p>
            <a:pPr/>
            <a:r>
              <a:t>5. Compare with Dritsas &amp; Trigka (2022): same dataset, different models (DL vs Rotation Forest).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— 7 deep learning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Standard (128-64-32): 3-layer MLP, ReLU, BatchNorm, Dropout 0.3.</a:t>
            </a:r>
          </a:p>
          <a:p>
            <a:pPr/>
            <a:r>
              <a:t>Simple (64-32): 2-layer (64→32), ReLU, BatchNorm, Dropout 0.2.</a:t>
            </a:r>
          </a:p>
          <a:p>
            <a:pPr/>
            <a:r>
              <a:t>Minimal (32): 1 hidden layer (32 units), ReLU, BatchNorm, Dropout 0.2.</a:t>
            </a:r>
          </a:p>
          <a:p>
            <a:pPr/>
            <a:r>
              <a:t>Deep (5 layers): 5 hidden layers (64 each), ReLU, BatchNorm, Dropout 0.3.</a:t>
            </a:r>
          </a:p>
          <a:p>
            <a:pPr/>
            <a:r>
              <a:t>ELU Activation: same as Standard but ELU instead of ReLU.</a:t>
            </a:r>
          </a:p>
          <a:p>
            <a:pPr/>
            <a:r>
              <a:t>LayerNorm: same as Standard but LayerNorm instead of BatchNorm.</a:t>
            </a:r>
          </a:p>
          <a:p>
            <a:pPr/>
            <a:r>
              <a:t>Residual: skip connections, hidden size 128, Dropout 0.3.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 (same for all architectures)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Learning rate: 0.001 (Adam optimizer).</a:t>
            </a:r>
          </a:p>
          <a:p>
            <a:pPr/>
            <a:r>
              <a:t>Batch size: 32.</a:t>
            </a:r>
          </a:p>
          <a:p>
            <a:pPr/>
            <a:r>
              <a:t>Max epochs: 100; early stopping if no improvement for 15 epochs.</a:t>
            </a:r>
          </a:p>
          <a:p>
            <a:pPr/>
            <a:r>
              <a:t>Loss: weighted Cross-Entropy (class weights for imbalanced YES/NO).</a:t>
            </a:r>
          </a:p>
          <a:p>
            <a:pPr/>
            <a:r>
              <a:t>Learning rate scheduler: ReduceLROnPlateau (factor 0.5, patience 10 epochs).</a:t>
            </a:r>
          </a:p>
          <a:p>
            <a:pPr/>
            <a:r>
              <a:t>Random seed: 42 (reproducibility).</a:t>
            </a:r>
          </a:p>
          <a:p>
            <a:pPr/>
            <a:r>
              <a:t>Input: 15 features, standardized (zero mean, unit variance).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— what we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Single 80/20 split: We split the data once — 80% for training, 20% held out for testing.</a:t>
            </a:r>
          </a:p>
          <a:p>
            <a:pPr/>
            <a:r>
              <a:t>  Train each model on the 80%, report accuracy on the 20%. One number per model.</a:t>
            </a:r>
          </a:p>
          <a:p>
            <a:pPr/>
            <a:r>
              <a:t>5-fold CV: Data split into 5 parts. 5 rounds: each round, 4 parts train, 1 part test.</a:t>
            </a:r>
          </a:p>
          <a:p>
            <a:pPr/>
            <a:r>
              <a:t>  Report mean and standard deviation of the 5 test accuracies. More stable.</a:t>
            </a:r>
          </a:p>
          <a:p>
            <a:pPr/>
            <a:r>
              <a:t>10-fold CV: Same idea with 10 parts. More rounds, often a bit more stable estimate.</a:t>
            </a:r>
          </a:p>
          <a:p>
            <a:pPr/>
            <a:r>
              <a:t>Metrics: accuracy, precision, recall, F1-score, ROC-AUC.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5-fold vs 10-fold CV — what is the difference?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5-fold: 5 train/test rounds; 10-fold: 10 rounds. Same idea: average over rounds.</a:t>
            </a:r>
          </a:p>
          <a:p>
            <a:pPr/>
            <a:r>
              <a:t>More folds → more stable mean and std; results are usually similar.</a:t>
            </a:r>
          </a:p>
          <a:p>
            <a:pPr/>
            <a:r>
              <a:t>We run both so you can compare and cite standard practice (both are common in papers).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Single 80/20 split</a:t>
            </a:r>
          </a:p>
        </p:txBody>
      </p:sp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Test accuracy by model (red line = 2022 reference 97.1%).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Single split: complexity vs performance</a:t>
            </a:r>
          </a:p>
        </p:txBody>
      </p:sp>
      <p:pic>
        <p:nvPicPr>
          <p:cNvPr id="3" name="Picture 2" descr="complexity_vs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Parameters vs test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Metrics: Accuracy, Precision, Recall, F1 (single split)</a:t>
            </a:r>
          </a:p>
        </p:txBody>
      </p:sp>
      <p:pic>
        <p:nvPicPr>
          <p:cNvPr id="3" name="Picture 2" descr="comprehensiv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All four metrics per model (single 80/20 run).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Confusion matrix — Standard (128-64-32) &amp; Simple (64-32)</a:t>
            </a:r>
          </a:p>
        </p:txBody>
      </p:sp>
      <p:pic>
        <p:nvPicPr>
          <p:cNvPr id="3" name="Picture 2" descr="confusion_matrix_standard_128-64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Standard (128-64-32)</a:t>
            </a:r>
          </a:p>
        </p:txBody>
      </p:sp>
      <p:pic>
        <p:nvPicPr>
          <p:cNvPr id="5" name="Picture 4" descr="confusion_matrix_simple_64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Simple (64-32)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Confusion matrix — Minimal (32) &amp; Deep (5 layers)</a:t>
            </a:r>
          </a:p>
        </p:txBody>
      </p:sp>
      <p:pic>
        <p:nvPicPr>
          <p:cNvPr id="3" name="Picture 2" descr="confusion_matrix_minimal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Minimal (32)</a:t>
            </a:r>
          </a:p>
        </p:txBody>
      </p:sp>
      <p:pic>
        <p:nvPicPr>
          <p:cNvPr id="5" name="Picture 4" descr="confusion_matrix_deep_5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Deep (5 layers)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Confusion matrix — ELU Activation &amp; LayerNorm</a:t>
            </a:r>
          </a:p>
        </p:txBody>
      </p:sp>
      <p:pic>
        <p:nvPicPr>
          <p:cNvPr id="3" name="Picture 2" descr="confusion_matrix_elu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ELU Activation</a:t>
            </a:r>
          </a:p>
        </p:txBody>
      </p:sp>
      <p:pic>
        <p:nvPicPr>
          <p:cNvPr id="5" name="Picture 4" descr="confusion_matrix_layer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LayerNorm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Confusion matrix — Residual</a:t>
            </a:r>
          </a:p>
        </p:txBody>
      </p:sp>
      <p:pic>
        <p:nvPicPr>
          <p:cNvPr id="3" name="Picture 2" descr="confusion_matrix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True vs predicted (NO/YES). Diagonal =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Training curves — Standard (128-64-32) &amp; Simple (64-32)</a:t>
            </a:r>
          </a:p>
        </p:txBody>
      </p:sp>
      <p:pic>
        <p:nvPicPr>
          <p:cNvPr id="3" name="Picture 2" descr="training_history_standard_128-64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Standard (128-64-32)</a:t>
            </a:r>
          </a:p>
        </p:txBody>
      </p:sp>
      <p:pic>
        <p:nvPicPr>
          <p:cNvPr id="5" name="Picture 4" descr="training_history_simple_64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Simple (64-32)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Training curves — Minimal (32) &amp; Deep (5 layers)</a:t>
            </a:r>
          </a:p>
        </p:txBody>
      </p:sp>
      <p:pic>
        <p:nvPicPr>
          <p:cNvPr id="3" name="Picture 2" descr="training_history_minimal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Minimal (32)</a:t>
            </a:r>
          </a:p>
        </p:txBody>
      </p:sp>
      <p:pic>
        <p:nvPicPr>
          <p:cNvPr id="5" name="Picture 4" descr="training_history_deep_5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Deep (5 layers)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Training curves — ELU Activation &amp; LayerNorm</a:t>
            </a:r>
          </a:p>
        </p:txBody>
      </p:sp>
      <p:pic>
        <p:nvPicPr>
          <p:cNvPr id="3" name="Picture 2" descr="training_history_elu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ELU Activation</a:t>
            </a:r>
          </a:p>
        </p:txBody>
      </p:sp>
      <p:pic>
        <p:nvPicPr>
          <p:cNvPr id="5" name="Picture 4" descr="training_history_layer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LayerNorm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Training curves — Residual</a:t>
            </a:r>
          </a:p>
        </p:txBody>
      </p:sp>
      <p:pic>
        <p:nvPicPr>
          <p:cNvPr id="3" name="Picture 2" descr="training_history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Loss and accuracy over epochs; early stopping 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ROC curve — Standard (128-64-32) &amp; Simple (64-32)</a:t>
            </a:r>
          </a:p>
        </p:txBody>
      </p:sp>
      <p:pic>
        <p:nvPicPr>
          <p:cNvPr id="3" name="Picture 2" descr="roc_curve_standard_128-64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Standard (128-64-32)</a:t>
            </a:r>
          </a:p>
        </p:txBody>
      </p:sp>
      <p:pic>
        <p:nvPicPr>
          <p:cNvPr id="5" name="Picture 4" descr="roc_curve_simple_64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Simple (64-32)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ROC curve — Minimal (32) &amp; Deep (5 layers)</a:t>
            </a:r>
          </a:p>
        </p:txBody>
      </p:sp>
      <p:pic>
        <p:nvPicPr>
          <p:cNvPr id="3" name="Picture 2" descr="roc_curve_minimal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Minimal (32)</a:t>
            </a:r>
          </a:p>
        </p:txBody>
      </p:sp>
      <p:pic>
        <p:nvPicPr>
          <p:cNvPr id="5" name="Picture 4" descr="roc_curve_deep_5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Deep (5 layers)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ROC curve — ELU Activation &amp; LayerNorm</a:t>
            </a:r>
          </a:p>
        </p:txBody>
      </p:sp>
      <p:pic>
        <p:nvPicPr>
          <p:cNvPr id="3" name="Picture 2" descr="roc_curve_elu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ELU Activation</a:t>
            </a:r>
          </a:p>
        </p:txBody>
      </p:sp>
      <p:pic>
        <p:nvPicPr>
          <p:cNvPr id="5" name="Picture 4" descr="roc_curve_layer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LayerNorm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ROC curve — Residual</a:t>
            </a:r>
          </a:p>
        </p:txBody>
      </p:sp>
      <p:pic>
        <p:nvPicPr>
          <p:cNvPr id="3" name="Picture 2" descr="roc_curve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True Positive Rate vs False Positive Rate; AUC in legend.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Precision-Recall curve — Standard (128-64-32) &amp; Simple (64-32)</a:t>
            </a:r>
          </a:p>
        </p:txBody>
      </p:sp>
      <p:pic>
        <p:nvPicPr>
          <p:cNvPr id="3" name="Picture 2" descr="pr_curve_standard_128-64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Standard (128-64-32)</a:t>
            </a:r>
          </a:p>
        </p:txBody>
      </p:sp>
      <p:pic>
        <p:nvPicPr>
          <p:cNvPr id="5" name="Picture 4" descr="pr_curve_simple_64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Simple (64-32)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Precision-Recall curve — Minimal (32) &amp; Deep (5 layers)</a:t>
            </a:r>
          </a:p>
        </p:txBody>
      </p:sp>
      <p:pic>
        <p:nvPicPr>
          <p:cNvPr id="3" name="Picture 2" descr="pr_curve_minimal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Minimal (32)</a:t>
            </a:r>
          </a:p>
        </p:txBody>
      </p:sp>
      <p:pic>
        <p:nvPicPr>
          <p:cNvPr id="5" name="Picture 4" descr="pr_curve_deep_5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Deep (5 layers)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Precision-Recall curve — ELU Activation &amp; LayerNorm</a:t>
            </a:r>
          </a:p>
        </p:txBody>
      </p:sp>
      <p:pic>
        <p:nvPicPr>
          <p:cNvPr id="3" name="Picture 2" descr="pr_curve_elu_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ELU Activation</a:t>
            </a:r>
          </a:p>
        </p:txBody>
      </p:sp>
      <p:pic>
        <p:nvPicPr>
          <p:cNvPr id="5" name="Picture 4" descr="pr_curve_layer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LayerNorm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Precision-Recall curve — Residual</a:t>
            </a:r>
          </a:p>
        </p:txBody>
      </p:sp>
      <p:pic>
        <p:nvPicPr>
          <p:cNvPr id="3" name="Picture 2" descr="pr_curve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Precision vs Recall; AP in legend.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5-fold cross-validation (mean ± std)</a:t>
            </a:r>
          </a:p>
        </p:txBody>
      </p:sp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More stable estimate; comparable to how the 2022 paper likely reported results.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Results — 5-fold vs 10-fold CV</a:t>
            </a:r>
          </a:p>
        </p:txBody>
      </p:sp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023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5-fold CV</a:t>
            </a:r>
          </a:p>
        </p:txBody>
      </p:sp>
      <p:pic>
        <p:nvPicPr>
          <p:cNvPr id="5" name="Picture 4" descr="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023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9319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10-fold CV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Dritsas &amp; Trigka (2022)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Reference: Rotation Forest — 97.1% accuracy, 99.3% AUC.</a:t>
            </a:r>
          </a:p>
          <a:p>
            <a:pPr/>
            <a:r>
              <a:t>Our best (e.g. LayerNorm with 5-fold CV): ~92% accuracy, ~94% AUC.</a:t>
            </a:r>
          </a:p>
          <a:p>
            <a:pPr/>
            <a:r>
              <a:t>Gap is expected: on small tabular data, tree ensembles often outperform neural nets.</a:t>
            </a:r>
          </a:p>
          <a:p>
            <a:pPr/>
            <a:r>
              <a:t>We use the same dataset and same task; we compare a different family of models (DL).</a:t>
            </a:r>
          </a:p>
          <a:p>
            <a:pPr/>
            <a:r>
              <a:t>Conclusion: DL is viable; classical ML remains strong on this dataset.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Same lung cancer survey data and classification task as the 2022 paper.</a:t>
            </a:r>
          </a:p>
          <a:p>
            <a:pPr/>
            <a:r>
              <a:t>Seven DL architectures trained and compared (single split + 5-fold and 10-fold CV).</a:t>
            </a:r>
          </a:p>
          <a:p>
            <a:pPr/>
            <a:r>
              <a:t>Training: lr 0.001, batch 32, early stopping 15; same setup for all models.</a:t>
            </a:r>
          </a:p>
          <a:p>
            <a:pPr/>
            <a:r>
              <a:t>Best DL performance ~92% accuracy (vs 97.1% Rotation Forest).</a:t>
            </a:r>
          </a:p>
          <a:p>
            <a:pPr/>
            <a:r>
              <a:t>All visuals and CSVs in reports/single_split, reports/cv5, reports/cv10.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