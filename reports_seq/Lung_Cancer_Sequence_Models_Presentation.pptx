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F7BB50-FD5E-439E-8B63-5B4DEAD23F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3DD6C-38AE-4D28-9891-318EAC49A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1C583F-627A-401F-ADF6-3BC894ED06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E43FDD-A10D-4E55-BEE3-16C53CBDAD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2ECA2D-30E6-4CE2-9803-70BC835BC1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60AC60-9DC7-49E4-9B51-66ABDE6D9C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4B71B5-BA43-49C0-9EB8-DE7DBD2340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13F78-F6D7-4A06-BBB3-5EB7464B23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221EB-72EE-4344-99CD-1252B0A0EB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C7DB4-36AE-4491-AD50-BF9837F6E3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D07575-AC49-4875-8D6F-CD62D97146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AAADA3-ED16-4BB3-9FFE-66D3377BA0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F5F3CF-7C94-40B8-8C25-6211CC619B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A5F46F-E1A5-4B7A-A28A-55486E3F02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D56E4F-64DE-48E3-BA45-B2EAB98FC0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8FDAD3-A42B-473A-BFF5-0EF040A4D6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569153-005D-44B0-8B35-C2241D0D1C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CB0C3A-2E4A-4C66-8C63-C56BB3C480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7D05CD-2852-40B7-BE64-3E90EAEDA5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D97CC7-15CF-483D-A556-2DC30F4199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E01160-2087-4B4A-A3B3-1C61168E60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DC6B4F-AD62-4C05-995F-055C01C131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B101CB-E634-45F1-B0E8-0CD1DD196D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7B861D-0306-42F0-8485-0CFBA61E3AA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3C222D0-D0B6-4D01-9555-852CDB281C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CCB5760-BFB7-4197-B9B7-B4A8F322FF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667F3BF-C74B-4845-8E8F-A09350074D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78E53F-BE0E-4E21-83A1-F3FE80E2AF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27ACF8B-66AF-4BD3-9EEF-6E46E2D21E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036D7D7-7151-4D07-8C3E-76218F3C68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534FA7A-64B2-4C9B-8AC2-985179D4BE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C6C1308-2954-41A3-85BE-31F2FD39A3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3FCDA4C-1687-4F3F-AA8E-7732A203BA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AA02D9E-269A-4720-B337-98E0034D1E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2B0D4E1-61C6-4E4A-8145-A11ABD4DA5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9A3EBFC-D265-4EEA-BCBA-0E5A443E7D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AB3D0F-F715-4250-8AEF-A7D1881B87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F7E527-8556-41C5-94B6-C58D438CAB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100CC3-E60C-46C6-A561-8C0E57C1B6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Πρόβλεψη κινδύνου καρκίνου πνεύμονα — Μοντέλα ακολουθιών (RNN, GRU, LSTM)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Δεδομένα ισορροπημένα με SMOTE· ίδιο πλαίσιο με Dritsas &amp; Trigka (2022)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Χρήση SMOTE και στόχος εργασίας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560" y="13716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Το αρχικό dataset (survey lung cancer.csv) είχε έντονη ανισορροπία κλάσεων: ~87% YES, ~13% NO (309 δείγματα).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Για να αντιμετωπίσουμε το πρόβλημα χρησιμοποιήσαμε SMOTE (Synthetic Minority Over-sampling): δημιουργούνται συνθετικά δείγματα για τη μειοψηφική κλάση, ώστε να προκύψει ισορροπημένο dataset (~540 δείγματα, 50%–50%).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Στον ίδιο ισορροπημένο χώρο εκπαιδεύουμε τρία μοντέλα ακολουθιών (RNN, GRU, LSTM) και αξιολογούμε με accuracy, precision, recall, F1, ROC-AUC και confusion matrices.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Δεδομένα και κατανομή κλάσεων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Δεδομένα :15 χαρακτηριστικά, στόχος LUNG_CANCER (YES/NO).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Πριν το SMOTE: 309 δείγματα περίπου 39 NO (12,6%), 270 YES (87,4%).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Μετά το SMOTE: 540 δείγματα 270 NO (50%), 270 YES (50%). Το ισορροπημένο CSV αποθηκεύεται στο data/processed/.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Διαχωρισμός: 80% train / 20% test πάνω στο ισορροπημένο dataset (432 train, 108 test). Για 5-fold και 10-fold CV χρησιμοποιούμε το ίδιο ισορροπημένο dataset.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Διεργασία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1. Φόρτωση αρχικού CSV και κωδικοποίηση ετικετών (YES/NO → 1/0).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2. Εφαρμογή SMOTE μία φορά → ισορροπημένο dataset (540 δείγματα).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3. StandardScaler· στρωματοποιημένο split 80/20 (ή k-fold για CV).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4. Εκπαίδευση RNN, GRU, LSTM με τα ίδια hyperparameters (Adam, early stopping, κ.ά.).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5. Αξιολόγηση: accuracy, precision, recall, F1, ROC-AUC, PR-AUC· confusion matrices και καμπύλες ROC/PR.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Μοντέλα — RNN, GRU, LSTM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Τα 15 χαρακτηριστικά αντιμετωπίζονται ως ακολουθία μήκους 15 (input_dim=1).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RNN (hidden=64): 1 στρώμα RNN, περίπου 4.4K παράμετροι.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GRU (hidden=64): 1 στρώμα GRU, περίπου 13K παράμετροι.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LSTM (hidden=64): 1 στρώμα LSTM, περίπου 17K παράμετροι.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Όλα δίνουν 2 logits (NO/YES)· ίδια loss και αξιολόγηση με το MLP baseline.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Ρυθμίσεις εκπαίδευσης (κοινές για όλα τα μοντέλα)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Optimizer: Adam. Learning rate: 0.001.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Batch size: 32. Μέγιστα epochs: 100.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Early stopping: διακοπή αν δεν υπάρχει βελτίωση στο test accuracy για 15 συνεχόμενα epochs.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Loss: Cross-Entropy με class weights [1, 1] (τα δεδομένα είναι ήδη ισορροπημένα με SMOTE).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Scheduler: ReduceLROnPlateau (factor 0.5, patience 10 epochs).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Random seed: 42. Όλα τα plots και CSV βρίσκονται στο reports_seq/.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Αξιολόγηση — μετρικές που αναφέρουμε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Accuracy, Precision, Recall, F1-Score ανά μοντέλο.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ROC-AUC και Precision-Recall AUC.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Confusion matrix (αληθής vs προβλεπόμενη κλάση NO/YES).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Αποτελέσματα: single split 80/20 και, όταν έχουν τρέξει, 5-fold και 10-fold stratified CV (μέσος ± τυπική απόκλιση).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64800" y="274320"/>
            <a:ext cx="90144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Αποτελέσματα — Πίνακας μετρικών (80/20 split πάνω σε δεδομένα SMOTE)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8" name="Table 2"/>
          <p:cNvGraphicFramePr/>
          <p:nvPr/>
        </p:nvGraphicFramePr>
        <p:xfrm>
          <a:off x="457200" y="822960"/>
          <a:ext cx="8229240" cy="3384720"/>
        </p:xfrm>
        <a:graphic>
          <a:graphicData uri="http://schemas.openxmlformats.org/drawingml/2006/table">
            <a:tbl>
              <a:tblPr/>
              <a:tblGrid>
                <a:gridCol w="1175400"/>
                <a:gridCol w="1175400"/>
                <a:gridCol w="1175400"/>
                <a:gridCol w="1175400"/>
                <a:gridCol w="1175400"/>
                <a:gridCol w="1175400"/>
                <a:gridCol w="1175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Test Accuracy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RNN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0.9636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0.9630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0.9630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0.9825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4418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LSTM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0.9630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0.9630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0.9630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0.9839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17282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GRU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0.9537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0.9551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0.9537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0.9537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0.9815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12994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1693080" y="274320"/>
            <a:ext cx="5757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Test accuracy (80/20 split)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2" descr="accuracy_comparison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41" name="TextBox 3"/>
          <p:cNvSpPr/>
          <p:nvPr/>
        </p:nvSpPr>
        <p:spPr>
          <a:xfrm>
            <a:off x="2525760" y="6217920"/>
            <a:ext cx="4091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RNN, GRU, LSTM πάνω σε δεδομένα ισορροπημένα με SMOTE.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958320" y="274320"/>
            <a:ext cx="7226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Accuracy, Precision, Recall, F1 (80/20)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Picture 2" descr="comprehensive_metrics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44" name="TextBox 3"/>
          <p:cNvSpPr/>
          <p:nvPr/>
        </p:nvSpPr>
        <p:spPr>
          <a:xfrm>
            <a:off x="3409920" y="6217920"/>
            <a:ext cx="2323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Οι τέσσερις μετρικές ανά μοντέλο.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108360" y="274320"/>
            <a:ext cx="8927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Αποτελέσματα — Confusion matrix — RNN (hidden=64) &amp; GRU (hidden=64)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Picture 2" descr="confusion_matrix_rnn_hidden=64.png"/>
          <p:cNvPicPr/>
          <p:nvPr/>
        </p:nvPicPr>
        <p:blipFill>
          <a:blip r:embed="rId1"/>
          <a:stretch/>
        </p:blipFill>
        <p:spPr>
          <a:xfrm>
            <a:off x="4572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47" name="TextBox 3"/>
          <p:cNvSpPr/>
          <p:nvPr/>
        </p:nvSpPr>
        <p:spPr>
          <a:xfrm>
            <a:off x="1577160" y="3931920"/>
            <a:ext cx="1782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RNN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Picture 4" descr="confusion_matrix_gru_hidden=64.png"/>
          <p:cNvPicPr/>
          <p:nvPr/>
        </p:nvPicPr>
        <p:blipFill>
          <a:blip r:embed="rId2"/>
          <a:stretch/>
        </p:blipFill>
        <p:spPr>
          <a:xfrm>
            <a:off x="45720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49" name="TextBox 5"/>
          <p:cNvSpPr/>
          <p:nvPr/>
        </p:nvSpPr>
        <p:spPr>
          <a:xfrm>
            <a:off x="5694120" y="3931920"/>
            <a:ext cx="177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GRU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900720" y="274320"/>
            <a:ext cx="7342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Confusion matrix — LSTM (hidden=64)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Picture 2" descr="confusion_matrix_lstm_hidden=64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52" name="TextBox 3"/>
          <p:cNvSpPr/>
          <p:nvPr/>
        </p:nvSpPr>
        <p:spPr>
          <a:xfrm>
            <a:off x="3151440" y="6217920"/>
            <a:ext cx="284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Αληθής vs προβλεπόμενη κλάση (NO/YES).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140040" y="274320"/>
            <a:ext cx="8863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Αποτελέσματα — Καμπύλες εκπαίδευσης — RNN (hidden=64) &amp; GRU (hidden=64)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Picture 2" descr="training_history_rnn_hidden=64.png"/>
          <p:cNvPicPr/>
          <p:nvPr/>
        </p:nvPicPr>
        <p:blipFill>
          <a:blip r:embed="rId1"/>
          <a:stretch/>
        </p:blipFill>
        <p:spPr>
          <a:xfrm>
            <a:off x="4572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55" name="TextBox 3"/>
          <p:cNvSpPr/>
          <p:nvPr/>
        </p:nvSpPr>
        <p:spPr>
          <a:xfrm>
            <a:off x="1577160" y="3931920"/>
            <a:ext cx="1782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RNN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4" descr="training_history_gru_hidden=64.png"/>
          <p:cNvPicPr/>
          <p:nvPr/>
        </p:nvPicPr>
        <p:blipFill>
          <a:blip r:embed="rId2"/>
          <a:stretch/>
        </p:blipFill>
        <p:spPr>
          <a:xfrm>
            <a:off x="45720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57" name="TextBox 5"/>
          <p:cNvSpPr/>
          <p:nvPr/>
        </p:nvSpPr>
        <p:spPr>
          <a:xfrm>
            <a:off x="5694120" y="3931920"/>
            <a:ext cx="177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GRU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489960" y="274320"/>
            <a:ext cx="8163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Καμπύλες εκπαίδευσης — LSTM (hidden=64)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Picture 2" descr="training_history_lstm_hidden=64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60" name="TextBox 3"/>
          <p:cNvSpPr/>
          <p:nvPr/>
        </p:nvSpPr>
        <p:spPr>
          <a:xfrm>
            <a:off x="3582720" y="6217920"/>
            <a:ext cx="197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Loss και accuracy ανά epoch.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/>
          <p:nvPr/>
        </p:nvSpPr>
        <p:spPr>
          <a:xfrm>
            <a:off x="500400" y="274320"/>
            <a:ext cx="8142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Αποτελέσματα — ROC curve — RNN (hidden=64) &amp; GRU (hidden=64)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2" descr="roc_curve_rnn_hidden=64.png"/>
          <p:cNvPicPr/>
          <p:nvPr/>
        </p:nvPicPr>
        <p:blipFill>
          <a:blip r:embed="rId1"/>
          <a:stretch/>
        </p:blipFill>
        <p:spPr>
          <a:xfrm>
            <a:off x="4572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63" name="TextBox 3"/>
          <p:cNvSpPr/>
          <p:nvPr/>
        </p:nvSpPr>
        <p:spPr>
          <a:xfrm>
            <a:off x="1577160" y="3931920"/>
            <a:ext cx="1782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RNN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Picture 4" descr="roc_curve_gru_hidden=64.png"/>
          <p:cNvPicPr/>
          <p:nvPr/>
        </p:nvPicPr>
        <p:blipFill>
          <a:blip r:embed="rId2"/>
          <a:stretch/>
        </p:blipFill>
        <p:spPr>
          <a:xfrm>
            <a:off x="45720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65" name="TextBox 5"/>
          <p:cNvSpPr/>
          <p:nvPr/>
        </p:nvSpPr>
        <p:spPr>
          <a:xfrm>
            <a:off x="5694120" y="3931920"/>
            <a:ext cx="177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GRU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/>
          <p:nvPr/>
        </p:nvSpPr>
        <p:spPr>
          <a:xfrm>
            <a:off x="1330920" y="274320"/>
            <a:ext cx="6481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ROC curve — LSTM (hidden=64)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Picture 2" descr="roc_curve_lstm_hidden=64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68" name="TextBox 3"/>
          <p:cNvSpPr/>
          <p:nvPr/>
        </p:nvSpPr>
        <p:spPr>
          <a:xfrm>
            <a:off x="3828960" y="6217920"/>
            <a:ext cx="1485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AUC στην υπόμνηση.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236160" y="274320"/>
            <a:ext cx="867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Αποτελέσματα — Precision-Recall curve — RNN (hidden=64) &amp; GRU (hidden=64)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Picture 2" descr="pr_curve_rnn_hidden=64.png"/>
          <p:cNvPicPr/>
          <p:nvPr/>
        </p:nvPicPr>
        <p:blipFill>
          <a:blip r:embed="rId1"/>
          <a:stretch/>
        </p:blipFill>
        <p:spPr>
          <a:xfrm>
            <a:off x="4572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71" name="TextBox 3"/>
          <p:cNvSpPr/>
          <p:nvPr/>
        </p:nvSpPr>
        <p:spPr>
          <a:xfrm>
            <a:off x="1577160" y="3931920"/>
            <a:ext cx="1782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RNN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Picture 4" descr="pr_curve_gru_hidden=64.png"/>
          <p:cNvPicPr/>
          <p:nvPr/>
        </p:nvPicPr>
        <p:blipFill>
          <a:blip r:embed="rId2"/>
          <a:stretch/>
        </p:blipFill>
        <p:spPr>
          <a:xfrm>
            <a:off x="45720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73" name="TextBox 5"/>
          <p:cNvSpPr/>
          <p:nvPr/>
        </p:nvSpPr>
        <p:spPr>
          <a:xfrm>
            <a:off x="5694120" y="3931920"/>
            <a:ext cx="177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GRU (hidden=64)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604800" y="274320"/>
            <a:ext cx="7933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Precision-Recall curve — LSTM (hidden=64)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Picture 2" descr="pr_curve_lstm_hidden=64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76" name="TextBox 3"/>
          <p:cNvSpPr/>
          <p:nvPr/>
        </p:nvSpPr>
        <p:spPr>
          <a:xfrm>
            <a:off x="3412080" y="6217920"/>
            <a:ext cx="2319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Average precision στην υπόμνηση.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195840" y="274320"/>
            <a:ext cx="8752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5-fold cross-validation (μέσος ± τυπική απόκλιση)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Picture 2" descr="accuracy_comparison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79" name="TextBox 3"/>
          <p:cNvSpPr/>
          <p:nvPr/>
        </p:nvSpPr>
        <p:spPr>
          <a:xfrm>
            <a:off x="3304800" y="6217920"/>
            <a:ext cx="253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Δεδομένα SMOTE, 5-fold stratified CV.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1"/>
          <p:cNvSpPr/>
          <p:nvPr/>
        </p:nvSpPr>
        <p:spPr>
          <a:xfrm>
            <a:off x="2334600" y="274320"/>
            <a:ext cx="44740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Αποτελέσματα — Μετρικές 5-fold CV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1" name="Table 2"/>
          <p:cNvGraphicFramePr/>
          <p:nvPr/>
        </p:nvGraphicFramePr>
        <p:xfrm>
          <a:off x="457200" y="822960"/>
          <a:ext cx="8229240" cy="25617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Test Accuracy (mean)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Test Accuracy (std)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ROC-AUC (mean)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ROC-AUC (std)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LSTM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0.0131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0.9921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0.0051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GRU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0.0131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0.9908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0.0060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RNN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0.9704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0.0123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0.9877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0.0093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118800" y="274320"/>
            <a:ext cx="8906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Αποτελέσματα — 10-fold cross-validation (μέσος ± τυπική απόκλιση)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Picture 2" descr="accuracy_comparison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4754520"/>
          </a:xfrm>
          <a:prstGeom prst="rect">
            <a:avLst/>
          </a:prstGeom>
          <a:ln w="0">
            <a:noFill/>
          </a:ln>
        </p:spPr>
      </p:pic>
      <p:sp>
        <p:nvSpPr>
          <p:cNvPr id="184" name="TextBox 3"/>
          <p:cNvSpPr/>
          <p:nvPr/>
        </p:nvSpPr>
        <p:spPr>
          <a:xfrm>
            <a:off x="3265920" y="6217920"/>
            <a:ext cx="2611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Δεδομένα SMOTE, 10-fold stratified CV.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2263680" y="274320"/>
            <a:ext cx="4615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Αποτελέσματα — Μετρικές 10-fold CV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6" name="Table 2"/>
          <p:cNvGraphicFramePr/>
          <p:nvPr/>
        </p:nvGraphicFramePr>
        <p:xfrm>
          <a:off x="457200" y="822960"/>
          <a:ext cx="8229240" cy="25617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Test Accuracy (mean)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Test Accuracy (std)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ROC-AUC (mean)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ROC-AUC (std)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RNN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0.0207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0.9879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0.0120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GRU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0.0171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0.9922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0.0072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LSTM (hidden=64)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0.9704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0.0148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0.9925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0.0061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/>
          <p:nvPr/>
        </p:nvSpPr>
        <p:spPr>
          <a:xfrm>
            <a:off x="2312640" y="274320"/>
            <a:ext cx="45183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Αποτελέσματα — 5-fold vs 10-fold CV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2" descr="accuracy_comparison.png"/>
          <p:cNvPicPr/>
          <p:nvPr/>
        </p:nvPicPr>
        <p:blipFill>
          <a:blip r:embed="rId1"/>
          <a:stretch/>
        </p:blipFill>
        <p:spPr>
          <a:xfrm>
            <a:off x="4572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89" name="TextBox 3"/>
          <p:cNvSpPr/>
          <p:nvPr/>
        </p:nvSpPr>
        <p:spPr>
          <a:xfrm>
            <a:off x="1955160" y="3931920"/>
            <a:ext cx="102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5-fold CV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Picture 4" descr="accuracy_comparison.png"/>
          <p:cNvPicPr/>
          <p:nvPr/>
        </p:nvPicPr>
        <p:blipFill>
          <a:blip r:embed="rId2"/>
          <a:stretch/>
        </p:blipFill>
        <p:spPr>
          <a:xfrm>
            <a:off x="4572000" y="822960"/>
            <a:ext cx="4023000" cy="2925720"/>
          </a:xfrm>
          <a:prstGeom prst="rect">
            <a:avLst/>
          </a:prstGeom>
          <a:ln w="0">
            <a:noFill/>
          </a:ln>
        </p:spPr>
      </p:pic>
      <p:sp>
        <p:nvSpPr>
          <p:cNvPr id="191" name="TextBox 5"/>
          <p:cNvSpPr/>
          <p:nvPr/>
        </p:nvSpPr>
        <p:spPr>
          <a:xfrm>
            <a:off x="6012000" y="3931920"/>
            <a:ext cx="1142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10-fold CV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Σύνοψη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Εφαρμόσαμε SMOTE στο αρχικό survey dataset → ισορροπημένα 540 δείγματα (50% YES, 50% NO).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Τρία μοντέλα ακολουθιών: RNN, GRU, LSTM (15 features ως ακολουθία).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Πλήρης αξιολόγηση: accuracy, precision, recall, F1, ROC-AUC, confusion matrices, καμπύλες ROC/PR.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Single 80/20 split και προαιρετικά 5-fold και 10-fold CV για σταθερότερες εκτιμήσεις.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Όλα τα figures και CSV στο reports_seq/single_split, reports_seq/cv5, reports_seq/cv10.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Τελική σύνοψη — Καλύτερα μοντέλα και σχόλια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Καλύτερο μοντέλο (80/20): RNN (hidden=64) — Accuracy: 97.22%, F1: 0.9630, ROC-AUC: 0.9825. Παράμετροι: 4,418. Early stopping περίπου στο epoch 11.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5-fold CV: Καλύτερο LSTM (hidden=64) — Accuracy: 97.22% ± 1.31%, ROC-AUC: 0.9921 ± 0.0051.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10-fold CV: Καλύτερο RNN (hidden=64) — Accuracy: 97.22% ± 2.07%, ROC-AUC: 0.9879 ± 0.0120.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Εκπαίδευση: Χρησιμοποιήθηκε early stopping (15 epochs χωρίς βελτίωση). Οι καμπύλες train/test δείχνουν ότι δεν υπάρχει σοβαρό overfitting· τα μοντέλα σταματούν όταν η test απόδοση σταθεροποιείται.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LibreOffice/7.6.2.1$Windows_X86_64 LibreOffice_project/56f7684011345957bbf33a7ee678afaf4d2ba333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2026-03-11T21:52:42Z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